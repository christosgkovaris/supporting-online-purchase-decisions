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image" Target="../media/image-11-2.png"/><Relationship Id="rId7" Type="http://schemas.openxmlformats.org/officeDocument/2006/relationships/image" Target="../media/image-11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1.png"/><Relationship Id="rId4" Type="http://schemas.openxmlformats.org/officeDocument/2006/relationships/image" Target="../media/image-13-2.svg"/><Relationship Id="rId5" Type="http://schemas.openxmlformats.org/officeDocument/2006/relationships/image" Target="../media/image-13-1.png"/><Relationship Id="rId6" Type="http://schemas.openxmlformats.org/officeDocument/2006/relationships/image" Target="../media/image-1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310" y="688479"/>
            <a:ext cx="1155076" cy="10665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3844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Ανάπτυξη Εφαρμογής για την Υποστήριξη Αποφάσεων Διαδικτυακών Αγορών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56682" y="350321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Γκόβαρης Χρήστος-Γρηγόριος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065488"/>
            <a:ext cx="10868745" cy="57150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4382492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Πανεπιστήμιο Ιωαννίνων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Τμήμα Μηχανικών Ηλεκτρονικών Υπολογιστών και Πληροφορικής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Επιβλέπων: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Αναστασιάδης Στέργιος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56682" y="5927626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Ιωάννινα,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39292"/>
            <a:ext cx="87518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695946"/>
            <a:ext cx="12579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ΚΊΝΗΤΡΟ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0020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Το Πρόβλημα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76153"/>
            <a:ext cx="3496877" cy="2342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090565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Λίστα χωρίς Προτεραιότητες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794522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Η αποθήκευση προϊόντων δεν δείχνει ποια αγορά πρέπει να προηγηθεί.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876153"/>
            <a:ext cx="3496877" cy="23424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309056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Πολλαπλά Κριτήρια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663363" y="3499247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Τιμή, ανάγκη, έκπτωση, διαθεσιμότητα και προτιμήσεις πρέπει να αξιολογούνται ταυτόχρονα.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876153"/>
            <a:ext cx="3496877" cy="234245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247" y="3090565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Περιορισμένος Προϋπολογισμός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49247" y="3794522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Ο χρήστης πρέπει να αποφασίσει ποιες επιλογές ή ποιος συνδυασμός προϊόντων είναι πραγματικά εφικτός.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56904"/>
            <a:ext cx="1013891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879" y="2124869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2113558"/>
            <a:ext cx="116985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ΣΤΌΧΟΣ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4196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Στόχος της Εργασίας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5350" y="3293765"/>
            <a:ext cx="5476043" cy="1507331"/>
          </a:xfrm>
          <a:prstGeom prst="roundRect">
            <a:avLst>
              <a:gd name="adj" fmla="val 9029"/>
            </a:avLst>
          </a:prstGeom>
          <a:solidFill>
            <a:srgbClr val="AFCBF8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14357" y="3482777"/>
            <a:ext cx="5098029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Εφαρμογή στον φυλλομετρητή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4357" y="4026198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Ανάπτυξη εφαρμογής υποστήριξης αγοραστικών αποφάσεων ως Chrome Extension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332776" y="3763963"/>
            <a:ext cx="5203794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Χρήση δεδομένων από πραγματική λίστα αγαπημένων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Υποστήριξη επιλογής και προτεραιοποίησης αγορών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62980"/>
            <a:ext cx="75979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519634"/>
            <a:ext cx="114257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ΘΕΩΡΊΑ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257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Θεωρητικό Υπόβαθρο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699841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289520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Υποστήριξη Αποφάσεων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303885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Διαχείριση πολλών επιλογών και κριτηρίων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699841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5658" y="289520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Πολυκριτηριακή Αξιολόγηση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85658" y="3303885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Συνδυασμός διαφορετικών κριτηρίων σε μία συνολική αξιολόγηση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4293096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832" y="448845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Περιορισμός Προϋπολογισμού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56832" y="489714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Επιλογή προϊόντων υπό διαθέσιμο οικονομικό όριο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0301" y="4293096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5658" y="4488458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Επεξηγησιμότητα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85658" y="4897140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Κατανόηση των λόγων πίσω από τις προτάσεις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737"/>
            <a:ext cx="1075306" cy="268486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438" y="581720"/>
            <a:ext cx="1472965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ΣΧΕΔΙΑΣΜΌΣ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63302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Αρχιτεκτονική Συστήματος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0217" y="1663601"/>
            <a:ext cx="6271163" cy="38654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27282" y="1803483"/>
            <a:ext cx="2137331" cy="580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Skroutz / Λίστα Αγαπημένων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386965" y="4822087"/>
            <a:ext cx="2137331" cy="290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Content Script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77306" y="5195096"/>
            <a:ext cx="756649" cy="17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11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(content.js)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558" y="1672316"/>
            <a:ext cx="2298663" cy="580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Λογική Υποστήριξης Απόφασης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83318" y="2335731"/>
            <a:ext cx="670981" cy="17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11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(popup.js)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926982" y="4943089"/>
            <a:ext cx="2137331" cy="290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Διεπαφή Χρήστη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1475" y="5777012"/>
            <a:ext cx="10868745" cy="55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Τοπική Αποθήκευση</a:t>
            </a:r>
            <a:endParaRPr lang="en-US" sz="17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Προϊόντα, προτιμήσεις και κατάσταση εφαρμογής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15145"/>
            <a:ext cx="107500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371798"/>
            <a:ext cx="145778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ΥΛΟΠΟΊΗΣΗ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778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Συλλογή και Επεξεργασία Δεδομένων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741017"/>
            <a:ext cx="44106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Εντοπισμός στο DOM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225304"/>
            <a:ext cx="44106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Αναγνώριση προϊόντων απευθείας από τη δομή της σελίδας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019153"/>
            <a:ext cx="44106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Εξαγόμενα Πεδία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4503440"/>
            <a:ext cx="4410659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Τίτλος, σύνδεσμος, εικόνα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Τιμή, διαθεσιμότητα, ανάλυση έκπτωσης από τα δεδομένα της κάρτας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539641" y="2764631"/>
            <a:ext cx="2903862" cy="1517948"/>
          </a:xfrm>
          <a:prstGeom prst="roundRect">
            <a:avLst>
              <a:gd name="adj" fmla="val 5230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AFCB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54047" y="2979043"/>
            <a:ext cx="24750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Καθαρισμός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754047" y="3463330"/>
            <a:ext cx="24750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Κανονικοποίηση δεδομένων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32510" y="2764631"/>
            <a:ext cx="2903961" cy="1517948"/>
          </a:xfrm>
          <a:prstGeom prst="roundRect">
            <a:avLst>
              <a:gd name="adj" fmla="val 5230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AFCB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46916" y="2979043"/>
            <a:ext cx="24751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Τοπική Αποθήκευση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846916" y="3463330"/>
            <a:ext cx="247514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Διατήρηση σε τοπική αποθήκευση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57436"/>
            <a:ext cx="116936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814090"/>
            <a:ext cx="155213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ΑΛΓΌΡΙΘΜΟΣ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201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Μοντέλο Βαθμολόγησης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1994297"/>
            <a:ext cx="5339820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9605" y="21005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482" y="275034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Επείγον και Έκπτωση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3159026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Βασικά κριτήρια για την αρχική αξιολόγηση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1994297"/>
            <a:ext cx="5339919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18530" y="21005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79308" y="275034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Βάρη Προτίμησης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379308" y="3159026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Ο χρήστης καθορίζει τη σχετική σημασία ανάγκης και έκπτωσης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141887"/>
            <a:ext cx="5339820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9605" y="424815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0482" y="489793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Βαθμολογία 1–5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50482" y="5306616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Κοινή κλίμακα για συνεπή αξιολόγηση και σύγκριση προϊόντων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4141887"/>
            <a:ext cx="5339919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18530" y="424815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79308" y="489793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Προσαρμογή και Πρόσθετες Μετρικές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379308" y="5306616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Προϋπολογισμός, σχετική αξία προς τιμή, εποχικότητα και διαθεσιμότητα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68598"/>
            <a:ext cx="846811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225252"/>
            <a:ext cx="122958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ΔΕΊΚΤΗΣ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313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Purchase Readiness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2405459"/>
            <a:ext cx="4229689" cy="3283942"/>
          </a:xfrm>
          <a:prstGeom prst="roundRect">
            <a:avLst>
              <a:gd name="adj" fmla="val 4144"/>
            </a:avLst>
          </a:prstGeom>
          <a:solidFill>
            <a:srgbClr val="AFCBF8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594471"/>
            <a:ext cx="385167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</a:t>
            </a:r>
            <a:endParaRPr lang="en-US" sz="5100" dirty="0"/>
          </a:p>
        </p:txBody>
      </p:sp>
      <p:sp>
        <p:nvSpPr>
          <p:cNvPr id="7" name="Text 5"/>
          <p:cNvSpPr/>
          <p:nvPr/>
        </p:nvSpPr>
        <p:spPr>
          <a:xfrm>
            <a:off x="714357" y="3598664"/>
            <a:ext cx="3851675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Δείκτης Ετοιμότητας Αγοράς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Readiness = 0,40·Priority + 0,25·Budget Fit + 0,15·VFM + 0,10·Seasonality + 0,10·Availability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1022" y="2592685"/>
            <a:ext cx="3132258" cy="1442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26227" y="2618085"/>
            <a:ext cx="286705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Ποσοστιαία Ένδειξη 0–100%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326227" y="3397647"/>
            <a:ext cx="286705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Συμπληρώνει τη βασική βαθμολογία 1–5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4114" y="2592685"/>
            <a:ext cx="3132357" cy="1442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69319" y="2618085"/>
            <a:ext cx="286715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Πέντε Συνιστώσες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8669319" y="3102372"/>
            <a:ext cx="286715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40% Priority · 25% Budget Fit · 15% VFM · 10% Seasonality · 10% Availability</a:t>
            </a:r>
            <a:endParaRPr lang="en-US" sz="14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1022" y="4362252"/>
            <a:ext cx="6475449" cy="11399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26227" y="4387652"/>
            <a:ext cx="62102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Ειδικές Περιπτώσεις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5326227" y="4871938"/>
            <a:ext cx="621024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0%: Εκτός αποθέματος ή χωρίς έγκυρη τιμή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10%: Υπέρβαση ενεργού προϋπολογισμού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6058"/>
            <a:ext cx="1330093" cy="258465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3469" y="577056"/>
            <a:ext cx="173568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ΒΕΛΤΙΣΤΟΠΟΊΗΣΗ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4574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Προτεραιότητες Αγοράς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882" y="1606947"/>
            <a:ext cx="9781831" cy="429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64236" y="4485641"/>
            <a:ext cx="1714672" cy="26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Αξιολόγηση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2864236" y="4825993"/>
            <a:ext cx="1714672" cy="604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Βαθμολόγηση των επιλεγμένων προϊόντων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78508" y="3751941"/>
            <a:ext cx="1714672" cy="52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Καλύτερη Επόμενη Αγορά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78508" y="4357273"/>
            <a:ext cx="1714672" cy="1006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Επιλογή με βάση τη χρησιμότητα της ενεργής προτεραιότητας αγοράς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85504" y="2057246"/>
            <a:ext cx="1714672" cy="26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Βελτιστοποίηση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85504" y="2397598"/>
            <a:ext cx="1714672" cy="60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Επιλογή συνδυασμού υπό ενεργό προϋπολογισμό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6682" y="6073279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Από μεμονωμένα προϊόντα σε συνδυασμό υψηλής χρησιμότητας με περιορισμό προϋπολογισμού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4810"/>
            <a:ext cx="710686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159" y="590153"/>
            <a:ext cx="113890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ΔΙΕΠΑΦΉ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2282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Διεπαφή Χρήστη</a:t>
            </a:r>
            <a:endParaRPr lang="en-US" sz="2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389" y="1476673"/>
            <a:ext cx="8694917" cy="44189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6076950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Ρυθμίσεις                                   Αξιολόγηση Προϊόντων                                   Προτεραιότητες Αγοράς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8587"/>
            <a:ext cx="1229190" cy="215305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503" y="641052"/>
            <a:ext cx="166871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ΕΠΕΞΗΓΗΣΙΜΌΤΗΤΑ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5635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Συμπληρωματικές Προτάσεις και Επεξηγησιμότητα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976" y="1578372"/>
            <a:ext cx="3189009" cy="456148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63711" y="1458813"/>
            <a:ext cx="6474854" cy="4800600"/>
          </a:xfrm>
          <a:prstGeom prst="roundRect">
            <a:avLst>
              <a:gd name="adj" fmla="val 2126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5391" y="2481362"/>
            <a:ext cx="6191492" cy="8476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42320" y="2642096"/>
            <a:ext cx="57938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Προτάσεις από τη Wishlist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542320" y="2969816"/>
            <a:ext cx="579383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Επιλογές από την ήδη εισαγμένη λίστα Skroutz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5391" y="3435251"/>
            <a:ext cx="6191492" cy="8476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42320" y="3595985"/>
            <a:ext cx="57938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Γενικές Ιδέες Προϊόντων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542320" y="3923705"/>
            <a:ext cx="579383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Προτάσεις από στατικό κατάλογο βάσει θεματικής συνάφειας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5391" y="4389140"/>
            <a:ext cx="6191492" cy="8476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42320" y="4549874"/>
            <a:ext cx="57938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Επεξηγησιμότητα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542320" y="4877594"/>
            <a:ext cx="579383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Σύντομη αιτιολόγηση και κατανοητές ενδείξεις για κάθε αποτέλεσμα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66118"/>
            <a:ext cx="88391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222772"/>
            <a:ext cx="126669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ΔΟΚΙΜΈΣ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288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Αξιολόγηση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402979"/>
            <a:ext cx="5339820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9605" y="25092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482" y="3159026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Αυτοματοποιημένες Δοκιμές — 45 δοκιμές σε 5 αρχεία ελέγχου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402979"/>
            <a:ext cx="5339919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18530" y="25092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79308" y="3159026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Οριακές Περιπτώσεις — Έλεγχος τιμών, διαθεσιμότητας, DOM και προϋπολογισμού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4141887"/>
            <a:ext cx="5339820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9605" y="424815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0482" y="4897934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Παλινδρόμηση &amp; Ποιότητα — Έλεγχος συνέπειας μετά από αλλαγές στην υλοποίηση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0301" y="4141887"/>
            <a:ext cx="5339919" cy="567035"/>
          </a:xfrm>
          <a:prstGeom prst="roundRect">
            <a:avLst>
              <a:gd name="adj" fmla="val 49999"/>
            </a:avLst>
          </a:prstGeom>
          <a:solidFill>
            <a:srgbClr val="AFCBF8"/>
          </a:solidFill>
          <a:ln w="6350">
            <a:solidFill>
              <a:srgbClr val="95B1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8530" y="424815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79308" y="4897934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Αποτελέσματα — 45/45 επιτυχείς δοκιμές στα ελεγχόμενα σενάρια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35720"/>
            <a:ext cx="123048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692374"/>
            <a:ext cx="161325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ΟΛΟΚΛΉΡΩΣΗ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984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Συμπεράσματα και Μελλοντική Εργασία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72581"/>
            <a:ext cx="3496877" cy="23495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08699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Κύρια Αποτελέσματα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495675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Υποστήριξη αγοραστικών αποφάσεων με πραγματικά δεδομένα, σαφή περιορισμό προϋπολογισμού και επεξηγήσιμη προτεραιοποίηση.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872581"/>
            <a:ext cx="3496877" cy="23495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308699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Περιορισμοί Υλοποίησης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663363" y="3495675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Εξάρτηση από τη δομή του Skroutz, χωρίς συνεχή παρακολούθηση τιμών και με κανόνες κατηγοριοποίησης βάσει λέξεων-κλειδιών.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872581"/>
            <a:ext cx="3496877" cy="23495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247" y="308699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Μελλοντική Εργασία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49247" y="3495675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Αξιολόγηση με πραγματικούς χρήστες και επέκταση σε περισσότερα ηλεκτρονικά καταστήματα.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8236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Ευχαριστώ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3792339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Ερωτήσεις;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2026-09-28T14:33:25Z</dcterms:created>
  <dcterms:modified xsi:type="dcterms:W3CDTF">2026-09-28T14:33:25Z</dcterms:modified>
</cp:coreProperties>
</file>