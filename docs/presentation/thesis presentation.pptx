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310" y="688479"/>
            <a:ext cx="1155076" cy="10665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3844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Ανάπτυξη Εφαρμογής για την Υποστήριξη Αποφάσεων Διαδικτυακών Αγορών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5032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Γκόβαρης Χρήστος-Γρηγόριος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065488"/>
            <a:ext cx="10868745" cy="57150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4382492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Πανεπιστήμιο Ιωαννίνων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Τμήμα Μηχανικών Ηλεκτρονικών Υπολογιστών και Πληροφορικής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Επιβλέπων: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Αναστασιάδης Στέργιος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56682" y="5927626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Ιωάννινα,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39292"/>
            <a:ext cx="87518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695946"/>
            <a:ext cx="12579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ΚΊΝΗΤΡΟ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020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Το Πρόβλημα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76153"/>
            <a:ext cx="3496877" cy="2342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090565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Λίστα χωρίς Προτεραιότητες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794522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Η αποθήκευση προϊόντων δεν δείχνει ποια αγορά πρέπει να προηγηθεί.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76153"/>
            <a:ext cx="3496877" cy="23424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309056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Πολλαπλά Κριτήρια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499247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Τιμή, ανάγκη, έκπτωση, διαθεσιμότητα και προτιμήσεις πρέπει να αξιολογούνται ταυτόχρονα.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876153"/>
            <a:ext cx="3496877" cy="23424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3090565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Περιορισμένος Προϋπολογισμός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794522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 χρήστης πρέπει να αποφασίσει ποιες επιλογές ή ποιος συνδυασμός προϊόντων είναι πραγματικά εφικτός.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56904"/>
            <a:ext cx="101389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2124869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2113558"/>
            <a:ext cx="11698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ΣΤΌΧΟΣ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4196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Στόχος της Εργασίας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5350" y="3293765"/>
            <a:ext cx="5476043" cy="1507331"/>
          </a:xfrm>
          <a:prstGeom prst="roundRect">
            <a:avLst>
              <a:gd name="adj" fmla="val 9029"/>
            </a:avLst>
          </a:prstGeom>
          <a:solidFill>
            <a:srgbClr val="AFCBF8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357" y="3482777"/>
            <a:ext cx="509802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Εφαρμογή στον φυλλομετρητή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4357" y="4026198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Ανάπτυξη εφαρμογής υποστήριξης αγοραστικών αποφάσεων ως Chrome Extension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32776" y="3763963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Χρήση δεδομένων από πραγματική λίστα αγαπημένων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Υποστήριξη επιλογής και προτεραιοποίησης αγορών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62980"/>
            <a:ext cx="75979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519634"/>
            <a:ext cx="11425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ΘΕΩΡΊΑ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257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Θεωρητικό Υπόβαθρο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69984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89520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Υποστήριξη Αποφάσεων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30388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Διαχείριση πολλών επιλογών και κριτηρίων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699841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5658" y="289520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Πολυκριτηριακή Αξιολόγηση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3303885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Συνδυασμός διαφορετικών κριτηρίων σε μία συνολική αξιολόγηση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293096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448845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Περιορισμός Προϋπολογισμού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6832" y="489714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Επιλογή προϊόντων υπό διαθέσιμο οικονομικό όριο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4293096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5658" y="448845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Επεξηγησιμότητα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85658" y="489714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Κατανόηση των λόγων πίσω από τις προτάσεις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737"/>
            <a:ext cx="1075306" cy="268486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438" y="581720"/>
            <a:ext cx="147296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ΣΧΕΔΙΑΣΜΌΣ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3302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Αρχιτεκτονική Συστήματος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217" y="1663601"/>
            <a:ext cx="6271163" cy="3865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27282" y="1803483"/>
            <a:ext cx="2137331" cy="580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Skroutz / Λίστα Αγαπημένων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386965" y="4953414"/>
            <a:ext cx="2137331" cy="290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Content Script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558" y="1803483"/>
            <a:ext cx="2298663" cy="580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Λογική Υποστήριξης Απόφασης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26982" y="4943089"/>
            <a:ext cx="2137331" cy="290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Διεπαφή Χρήστη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1475" y="5777012"/>
            <a:ext cx="10868745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Τοπική Αποθήκευση</a:t>
            </a:r>
            <a:endParaRPr lang="en-US" sz="17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Προϊόντα, προτιμήσεις και κατάσταση εφαρμογής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66354"/>
            <a:ext cx="107500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523008"/>
            <a:ext cx="14577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ΥΛΟΠΟΊΗΣΗ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290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Συλλογή και Επεξεργασία Δεδομένων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92227"/>
            <a:ext cx="44106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Εντοπισμός στο DOM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376513"/>
            <a:ext cx="44106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Αναγνώριση προϊόντων απευθείας από τη δομή της σελίδας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170363"/>
            <a:ext cx="44106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Εξαγόμενα Πεδία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654649"/>
            <a:ext cx="4410659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Τίτλος, σύνδεσμος, εικόνα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Τιμή, διαθεσιμότητα, έκπτωση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539641" y="2915841"/>
            <a:ext cx="2903862" cy="1517948"/>
          </a:xfrm>
          <a:prstGeom prst="roundRect">
            <a:avLst>
              <a:gd name="adj" fmla="val 523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AFCB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54047" y="3130252"/>
            <a:ext cx="24750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Καθαρισμός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754047" y="3614539"/>
            <a:ext cx="24750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Κανονικοποίηση δεδομένων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32510" y="2915841"/>
            <a:ext cx="2903961" cy="1517948"/>
          </a:xfrm>
          <a:prstGeom prst="roundRect">
            <a:avLst>
              <a:gd name="adj" fmla="val 523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AFCB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46916" y="3130252"/>
            <a:ext cx="24751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Τοπική Αποθήκευση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846916" y="3614539"/>
            <a:ext cx="24751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Διατήρηση σε τοπική αποθήκευση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7436"/>
            <a:ext cx="116936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14090"/>
            <a:ext cx="15521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ΑΛΓΌΡΙΘΜΟΣ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201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Μοντέλο Βαθμολόγησης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99429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9605" y="21005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275034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Επείγον και Έκπτωση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159026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Βασικά κριτήρια για την αρχική αξιολόγηση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199429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18530" y="21005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79308" y="275034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Βάρη Προτίμησης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79308" y="315902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 χρήστης καθορίζει τη σχετική σημασία ανάγκης και έκπτωσης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14188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9605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482" y="489793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Βαθμολογία 1–5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530661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Κοινή κλίμακα για συνεπή αξιολόγηση και σύγκριση προϊόντων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14188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8530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79308" y="489793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Προσαρμογή και Πρόσθετες Μετρικές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79308" y="530661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Προϋπολογισμός, σχετική αξία προς τιμή, εποχικότητα και διαθεσιμότητα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68598"/>
            <a:ext cx="84681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25252"/>
            <a:ext cx="122958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ΔΕΊΚΤΗΣ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313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 Readiness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405459"/>
            <a:ext cx="4229689" cy="3283942"/>
          </a:xfrm>
          <a:prstGeom prst="roundRect">
            <a:avLst>
              <a:gd name="adj" fmla="val 4144"/>
            </a:avLst>
          </a:prstGeom>
          <a:solidFill>
            <a:srgbClr val="AFCBF8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594471"/>
            <a:ext cx="385167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714357" y="3598664"/>
            <a:ext cx="3851675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Δείκτης Ετοιμότητας Αγοράς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Readiness = 0,40·Priority + 0,25·Budget Fit + 0,15·VFM + 0,10·Seasonality + 0,10·Availability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1022" y="2592685"/>
            <a:ext cx="3132258" cy="1442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26227" y="2618085"/>
            <a:ext cx="286705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Ποσοστιαία Ένδειξη 0–100%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326227" y="3397647"/>
            <a:ext cx="286705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Συμπληρώνει τη βασική βαθμολογία 1–5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4114" y="2592685"/>
            <a:ext cx="3132357" cy="1442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69319" y="2618085"/>
            <a:ext cx="28671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Πέντε Συνιστώσες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669319" y="3102372"/>
            <a:ext cx="286715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40% Priority · 25% Budget Fit · 15% VFM · 10% Seasonality · 10% Availability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1022" y="4362252"/>
            <a:ext cx="6475449" cy="11399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26227" y="4387652"/>
            <a:ext cx="62102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Ειδικές Περιπτώσεις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5326227" y="4871938"/>
            <a:ext cx="621024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0%: Εκτός αποθέματος ή χωρίς έγκυρη τιμή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10%: Υπέρβαση ενεργού προϋπολογισμού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058"/>
            <a:ext cx="1330093" cy="25846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577056"/>
            <a:ext cx="173568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ΒΕΛΤΙΣΤΟΠΟΊΗΣΗ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4574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Προτεραιότητες Αγοράς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882" y="1606947"/>
            <a:ext cx="9781831" cy="429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64236" y="4485641"/>
            <a:ext cx="1714672" cy="26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Αξιολόγηση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864236" y="4825993"/>
            <a:ext cx="1714672" cy="604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Βαθμολόγηση των επιλεγμένων προϊόντων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78508" y="3751941"/>
            <a:ext cx="1714672" cy="52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Καλύτερη Επόμενη Αγορά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78508" y="4357273"/>
            <a:ext cx="1714672" cy="100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Επιλογή με βάση τη χρησιμότητα της ενεργής προτεραιότητας αγοράς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85504" y="2057246"/>
            <a:ext cx="1714672" cy="26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Βελτιστοποίηση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85504" y="2397598"/>
            <a:ext cx="1714672" cy="60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Επιλογή συνδυασμού υπό ενεργό προϋπολογισμό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82" y="6073279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Από μεμονωμένα προϊόντα σε βέλτιστο συνδυασμό με περιορισμό προϋπολογισμού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810"/>
            <a:ext cx="710686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590153"/>
            <a:ext cx="11389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ΔΙΕΠΑΦΉ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282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Διεπαφή Χρήστη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389" y="1476673"/>
            <a:ext cx="8694917" cy="44189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076950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Ρυθμίσεις                                   Αξιολόγηση Προϊόντων                                   Προτεραιότητες Αγοράς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8587"/>
            <a:ext cx="1229190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641052"/>
            <a:ext cx="16687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ΕΠΕΞΗΓΗΣΙΜΌΤΗΤΑ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5635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Συμπληρωματικές Προτάσεις και Επεξηγησιμότητα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976" y="1578372"/>
            <a:ext cx="3189009" cy="45614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63711" y="1458813"/>
            <a:ext cx="6474854" cy="4800600"/>
          </a:xfrm>
          <a:prstGeom prst="roundRect">
            <a:avLst>
              <a:gd name="adj" fmla="val 2126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5391" y="2481362"/>
            <a:ext cx="6191492" cy="847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42320" y="2642096"/>
            <a:ext cx="57938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Προτάσεις από τη Wishlist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542320" y="2969816"/>
            <a:ext cx="579383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Επιλογές από την ήδη εισαγμένη λίστα Skroutz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5391" y="3435251"/>
            <a:ext cx="6191492" cy="847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42320" y="3595985"/>
            <a:ext cx="57938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Γενικές Ιδέες Προϊόντων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542320" y="3923705"/>
            <a:ext cx="579383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Προτάσεις από στατικό κατάλογο βάσει θεματικής συνάφειας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5391" y="4389140"/>
            <a:ext cx="6191492" cy="847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42320" y="4549874"/>
            <a:ext cx="57938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Επεξηγησιμότητα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542320" y="4877594"/>
            <a:ext cx="579383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Σύντομη αιτιολόγηση και κατανοητές ενδείξεις για κάθε αποτέλεσμα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66118"/>
            <a:ext cx="88391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22772"/>
            <a:ext cx="126669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ΔΟΚΙΜΈΣ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288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Αξιολόγηση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402979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9605" y="25092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315902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Αυτοματοποιημένες Δοκιμές — 45 δοκιμές σε 5 αρχεία ελέγχου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402979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18530" y="25092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79308" y="315902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Οριακές Περιπτώσεις — Έλεγχος τιμών, διαθεσιμότητας, DOM και προϋπολογισμού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14188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9605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0482" y="4897934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Παλινδρόμηση &amp; Ποιότητα — Έλεγχος συνέπειας μετά από αλλαγές στην υλοποίηση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414188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8530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79308" y="4897934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Αποτελέσματα — 45/45 επιτυχείς δοκιμές — 100%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35720"/>
            <a:ext cx="123048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692374"/>
            <a:ext cx="161325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ΟΛΟΚΛΉΡΩΣΗ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984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Συμπεράσματα και Μελλοντική Εργασία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72581"/>
            <a:ext cx="3496877" cy="23495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08699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Κύρια Αποτελέσματα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49567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Υποστήριξη αγοραστικών αποφάσεων με πραγματικά δεδομένα, σαφή περιορισμό προϋπολογισμού και επεξηγήσιμη προτεραιοποίηση.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72581"/>
            <a:ext cx="3496877" cy="23495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308699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Περιορισμοί Υλοποίησης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49567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Εξάρτηση από τη δομή του Skroutz, χωρίς συνεχή παρακολούθηση τιμών και με κανόνες κατηγοριοποίησης βάσει λέξεων-κλειδιών.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872581"/>
            <a:ext cx="3496877" cy="23495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308699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Μελλοντική Εργασία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49567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Αξιολόγηση με πραγματικούς χρήστες και επέκταση σε περισσότερα ηλεκτρονικά καταστήματα.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236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Ευχαριστώ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92339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Ερωτήσεις;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2026-09-23T15:41:01Z</dcterms:created>
  <dcterms:modified xsi:type="dcterms:W3CDTF">2026-09-23T15:41:01Z</dcterms:modified>
</cp:coreProperties>
</file>